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" name="Google Shape;5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4e1f4369e3_0_3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4e1f4369e3_0_3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4e1f4369e3_0_2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4e1f4369e3_0_2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4e1f4369e3_0_2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4e1f4369e3_0_2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4e1f4369e3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4e1f4369e3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4e1f4369e3_0_2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4e1f4369e3_0_2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4e1f4369e3_0_2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4e1f4369e3_0_2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4e1f4369e3_0_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g34e1f4369e3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4e1f4369e3_0_2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g34e1f4369e3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4e1f4369e3_0_13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" name="Google Shape;116;g34e1f4369e3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4e1f4369e3_0_14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" name="Google Shape;123;g34e1f4369e3_0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4e1f4369e3_0_14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" name="Google Shape;130;g34e1f4369e3_0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4e1f4369e3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4e1f4369e3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4e1f4369e3_0_3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4e1f4369e3_0_3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 1">
  <p:cSld name="Em branco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2" type="sldNum"/>
          </p:nvPr>
        </p:nvSpPr>
        <p:spPr>
          <a:xfrm>
            <a:off x="6457950" y="4865195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sp>
        <p:nvSpPr>
          <p:cNvPr id="52" name="Google Shape;52;p13"/>
          <p:cNvSpPr txBox="1"/>
          <p:nvPr>
            <p:ph type="ctrTitle"/>
          </p:nvPr>
        </p:nvSpPr>
        <p:spPr>
          <a:xfrm>
            <a:off x="314608" y="162962"/>
            <a:ext cx="6858000" cy="3948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B404C"/>
              </a:buClr>
              <a:buSzPts val="1500"/>
              <a:buFont typeface="Calibri"/>
              <a:buNone/>
              <a:defRPr b="1" i="0" sz="1500" u="none" cap="none" strike="noStrike">
                <a:solidFill>
                  <a:srgbClr val="2B404C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Relationship Id="rId4" Type="http://schemas.openxmlformats.org/officeDocument/2006/relationships/image" Target="../media/image6.png"/><Relationship Id="rId5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1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Relationship Id="rId4" Type="http://schemas.openxmlformats.org/officeDocument/2006/relationships/image" Target="../media/image1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14"/>
          <p:cNvSpPr/>
          <p:nvPr/>
        </p:nvSpPr>
        <p:spPr>
          <a:xfrm>
            <a:off x="0" y="0"/>
            <a:ext cx="9193800" cy="3646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14"/>
          <p:cNvSpPr/>
          <p:nvPr/>
        </p:nvSpPr>
        <p:spPr>
          <a:xfrm>
            <a:off x="0" y="3646783"/>
            <a:ext cx="9144000" cy="1241700"/>
          </a:xfrm>
          <a:prstGeom prst="rect">
            <a:avLst/>
          </a:prstGeom>
          <a:solidFill>
            <a:srgbClr val="31394D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14"/>
          <p:cNvSpPr txBox="1"/>
          <p:nvPr/>
        </p:nvSpPr>
        <p:spPr>
          <a:xfrm>
            <a:off x="0" y="3944550"/>
            <a:ext cx="9144000" cy="972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EBSI - Verifier Credentials</a:t>
            </a:r>
            <a:endParaRPr b="1" sz="2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lang="pt-PT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Pedro Xavier|Pedro Pereira|Diogo Magalhães|Miguel Marques|Kim Peiter Jørgensen</a:t>
            </a:r>
            <a:endParaRPr b="1"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14"/>
          <p:cNvSpPr txBox="1"/>
          <p:nvPr/>
        </p:nvSpPr>
        <p:spPr>
          <a:xfrm>
            <a:off x="3202925" y="800275"/>
            <a:ext cx="3238200" cy="171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3400">
                <a:solidFill>
                  <a:schemeClr val="dk1"/>
                </a:solidFill>
              </a:rPr>
              <a:t>Portuguese Digital Wallet</a:t>
            </a:r>
            <a:endParaRPr sz="3400">
              <a:solidFill>
                <a:schemeClr val="dk1"/>
              </a:solidFill>
            </a:endParaRPr>
          </a:p>
        </p:txBody>
      </p:sp>
      <p:pic>
        <p:nvPicPr>
          <p:cNvPr id="63" name="Google Shape;6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3202928" cy="3656625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pic>
      <p:pic>
        <p:nvPicPr>
          <p:cNvPr id="64" name="Google Shape;6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22482" y="2518975"/>
            <a:ext cx="4521519" cy="113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047050" y="0"/>
            <a:ext cx="2096951" cy="1491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ctrTitle"/>
          </p:nvPr>
        </p:nvSpPr>
        <p:spPr>
          <a:xfrm>
            <a:off x="314608" y="162962"/>
            <a:ext cx="6858000" cy="3948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100"/>
              <a:t>AGENDA</a:t>
            </a:r>
            <a:endParaRPr sz="2100"/>
          </a:p>
        </p:txBody>
      </p:sp>
      <p:sp>
        <p:nvSpPr>
          <p:cNvPr id="71" name="Google Shape;71;p15"/>
          <p:cNvSpPr txBox="1"/>
          <p:nvPr/>
        </p:nvSpPr>
        <p:spPr>
          <a:xfrm>
            <a:off x="372950" y="854650"/>
            <a:ext cx="8430000" cy="397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-"/>
            </a:pPr>
            <a:r>
              <a:rPr lang="pt-PT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EBSI - What is?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-"/>
            </a:pPr>
            <a:r>
              <a:rPr lang="pt-PT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Verifier Credentials - What is?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-"/>
            </a:pPr>
            <a:r>
              <a:rPr lang="pt-PT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EBSI - Actors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-"/>
            </a:pPr>
            <a:r>
              <a:rPr lang="pt-PT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Examples of VC’s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-"/>
            </a:pPr>
            <a:r>
              <a:rPr lang="pt-PT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Issuance, storage and presentation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-"/>
            </a:pPr>
            <a:r>
              <a:rPr lang="pt-PT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Sequence Diagram - Issue Credential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-"/>
            </a:pPr>
            <a:r>
              <a:rPr lang="pt-PT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Sequence Diagram - Verify Credential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-"/>
            </a:pPr>
            <a:r>
              <a:rPr lang="pt-PT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Examples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-"/>
            </a:pPr>
            <a:r>
              <a:rPr lang="pt-PT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Demo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/>
        </p:nvSpPr>
        <p:spPr>
          <a:xfrm>
            <a:off x="314600" y="938400"/>
            <a:ext cx="8766900" cy="22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EBSI</a:t>
            </a:r>
            <a:r>
              <a:rPr lang="pt-PT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(European Blockchain Services Infrastructure) is a </a:t>
            </a:r>
            <a:r>
              <a:rPr b="1" lang="pt-PT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public</a:t>
            </a:r>
            <a:r>
              <a:rPr lang="pt-PT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1" lang="pt-PT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permissioned</a:t>
            </a:r>
            <a:r>
              <a:rPr lang="pt-PT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pt-PT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blockchain</a:t>
            </a:r>
            <a:r>
              <a:rPr lang="pt-PT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network that offers public </a:t>
            </a:r>
            <a:r>
              <a:rPr b="1" lang="pt-PT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APIs</a:t>
            </a:r>
            <a:r>
              <a:rPr lang="pt-PT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for interacting with its ledger. 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is the first EU-wide blockchain infrastructure, driven by the </a:t>
            </a:r>
            <a:r>
              <a:rPr b="1" lang="pt-PT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public sector</a:t>
            </a:r>
            <a:r>
              <a:rPr lang="pt-PT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in full respect of </a:t>
            </a:r>
            <a:r>
              <a:rPr b="1" lang="pt-PT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European values and regulations</a:t>
            </a:r>
            <a:r>
              <a:rPr lang="pt-PT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to create </a:t>
            </a:r>
            <a:r>
              <a:rPr b="1" lang="pt-PT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cross-border services</a:t>
            </a:r>
            <a:r>
              <a:rPr lang="pt-PT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for public administrations, businesses and citizens.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16"/>
          <p:cNvSpPr txBox="1"/>
          <p:nvPr>
            <p:ph type="ctrTitle"/>
          </p:nvPr>
        </p:nvSpPr>
        <p:spPr>
          <a:xfrm>
            <a:off x="314608" y="162962"/>
            <a:ext cx="6858000" cy="3948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800"/>
              <a:t>EBSI - What is?</a:t>
            </a:r>
            <a:endParaRPr sz="2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ctrTitle"/>
          </p:nvPr>
        </p:nvSpPr>
        <p:spPr>
          <a:xfrm>
            <a:off x="314608" y="162962"/>
            <a:ext cx="6858000" cy="3948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500"/>
              <a:t>Verifier Credential - What is?</a:t>
            </a:r>
            <a:endParaRPr sz="2500"/>
          </a:p>
        </p:txBody>
      </p:sp>
      <p:sp>
        <p:nvSpPr>
          <p:cNvPr id="83" name="Google Shape;83;p17"/>
          <p:cNvSpPr txBox="1"/>
          <p:nvPr/>
        </p:nvSpPr>
        <p:spPr>
          <a:xfrm>
            <a:off x="365750" y="1041625"/>
            <a:ext cx="8190000" cy="388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-"/>
            </a:pPr>
            <a:r>
              <a:rPr lang="pt-PT" sz="2000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Verifiable credentials (or VCs) are a standard format for the digital representation of credentials that are cryptographically secure, verifiable through machines, and that guarantee privacy by enabling methods such as selective disclosure. </a:t>
            </a:r>
            <a:endParaRPr sz="2000">
              <a:solidFill>
                <a:schemeClr val="dk1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-"/>
            </a:pPr>
            <a:r>
              <a:rPr lang="pt-PT" sz="2000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In simpler terms, Verifiable Credentials are secure digital documents containing information about a person or entity that can be easily shared and automatically verified.</a:t>
            </a:r>
            <a:endParaRPr sz="2000">
              <a:solidFill>
                <a:schemeClr val="dk1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-"/>
            </a:pPr>
            <a:r>
              <a:rPr lang="pt-PT" sz="2000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VCs are standardized by several bodies, including the W3C.</a:t>
            </a:r>
            <a:endParaRPr sz="2000">
              <a:solidFill>
                <a:schemeClr val="dk1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b="1" lang="pt-PT">
                <a:solidFill>
                  <a:srgbClr val="2B404C"/>
                </a:solidFill>
                <a:latin typeface="Calibri"/>
                <a:ea typeface="Calibri"/>
                <a:cs typeface="Calibri"/>
                <a:sym typeface="Calibri"/>
              </a:rPr>
              <a:t>EBSI - Actors</a:t>
            </a:r>
            <a:endParaRPr b="1">
              <a:solidFill>
                <a:srgbClr val="2B404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9" name="Google Shape;89;p18" title="vc-framework-098df901913ddba6d7b07f01a0f1c883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6600" y="1184300"/>
            <a:ext cx="8158050" cy="3879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b="1" lang="pt-PT">
                <a:solidFill>
                  <a:srgbClr val="2B404C"/>
                </a:solidFill>
                <a:latin typeface="Calibri"/>
                <a:ea typeface="Calibri"/>
                <a:cs typeface="Calibri"/>
                <a:sym typeface="Calibri"/>
              </a:rPr>
              <a:t>Examples of VC’s</a:t>
            </a:r>
            <a:endParaRPr b="1">
              <a:solidFill>
                <a:srgbClr val="2B404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PT" sz="1400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Any identity credentials, certificates, tickets, badges, and other personal documents you can think of can all take the form of Verifiable Credentials. Here are some of the most common types</a:t>
            </a:r>
            <a:r>
              <a:rPr lang="pt-PT" sz="1400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:</a:t>
            </a:r>
            <a:endParaRPr sz="1400">
              <a:solidFill>
                <a:schemeClr val="dk1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33333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-"/>
            </a:pPr>
            <a:r>
              <a:rPr b="1" lang="pt-PT" sz="1400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Identity Documents</a:t>
            </a:r>
            <a:r>
              <a:rPr lang="pt-PT" sz="1400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: VCs can include digital versions of government-issued identity documents, such as national ID cards, driver's licenses, passports, or any other official identification document you rely on.</a:t>
            </a:r>
            <a:endParaRPr sz="1400">
              <a:solidFill>
                <a:schemeClr val="dk1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-"/>
            </a:pPr>
            <a:r>
              <a:rPr b="1" lang="pt-PT" sz="1400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Academic Certifications</a:t>
            </a:r>
            <a:r>
              <a:rPr lang="pt-PT" sz="1400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: Educational institutions can issue VCs for academic achievements, like diplomas, degrees, certificates, or transcripts. </a:t>
            </a:r>
            <a:endParaRPr sz="1400">
              <a:solidFill>
                <a:schemeClr val="dk1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-"/>
            </a:pPr>
            <a:r>
              <a:rPr b="1" lang="pt-PT" sz="1400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Health Records</a:t>
            </a:r>
            <a:r>
              <a:rPr lang="pt-PT" sz="1400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: Verifiable health records, vaccination certificates, or medical test results enable the secure and private sharing of health information.</a:t>
            </a:r>
            <a:endParaRPr sz="1400">
              <a:solidFill>
                <a:schemeClr val="dk1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-"/>
            </a:pPr>
            <a:r>
              <a:rPr b="1" lang="pt-PT" sz="1400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Membership Cards</a:t>
            </a:r>
            <a:r>
              <a:rPr lang="pt-PT" sz="1400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: VCs can be used for loyalty programs, club memberships, or employment ID cards providing proof of membership to a particular service or community.</a:t>
            </a:r>
            <a:endParaRPr sz="1400">
              <a:solidFill>
                <a:schemeClr val="dk1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500"/>
              </a:spcBef>
              <a:spcAft>
                <a:spcPts val="120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0"/>
          <p:cNvSpPr txBox="1"/>
          <p:nvPr>
            <p:ph type="title"/>
          </p:nvPr>
        </p:nvSpPr>
        <p:spPr>
          <a:xfrm>
            <a:off x="311700" y="1508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2400">
                <a:solidFill>
                  <a:srgbClr val="44546A"/>
                </a:solidFill>
                <a:latin typeface="Calibri"/>
                <a:ea typeface="Calibri"/>
                <a:cs typeface="Calibri"/>
                <a:sym typeface="Calibri"/>
              </a:rPr>
              <a:t>Issuance, storage and presentation</a:t>
            </a:r>
            <a:endParaRPr/>
          </a:p>
        </p:txBody>
      </p:sp>
      <p:pic>
        <p:nvPicPr>
          <p:cNvPr descr="Uma imagem com texto, captura de ecrã, diagrama, software&#10;&#10;Descrição gerada automaticamente" id="101" name="Google Shape;10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80100" y="723525"/>
            <a:ext cx="3783802" cy="433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1"/>
          <p:cNvSpPr txBox="1"/>
          <p:nvPr>
            <p:ph type="ctrTitle"/>
          </p:nvPr>
        </p:nvSpPr>
        <p:spPr>
          <a:xfrm>
            <a:off x="314608" y="162962"/>
            <a:ext cx="7809600" cy="3948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pt-PT" sz="2800"/>
              <a:t>Sequence Diagram – Issue Credential</a:t>
            </a:r>
            <a:endParaRPr sz="2800"/>
          </a:p>
        </p:txBody>
      </p:sp>
      <p:pic>
        <p:nvPicPr>
          <p:cNvPr id="107" name="Google Shape;107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9050" y="821175"/>
            <a:ext cx="5705899" cy="40967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2"/>
          <p:cNvSpPr txBox="1"/>
          <p:nvPr>
            <p:ph type="ctrTitle"/>
          </p:nvPr>
        </p:nvSpPr>
        <p:spPr>
          <a:xfrm>
            <a:off x="314608" y="162962"/>
            <a:ext cx="8257800" cy="3948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pt-PT" sz="2800"/>
              <a:t>Sequence Diagram – Verify Credential</a:t>
            </a:r>
            <a:endParaRPr sz="2800"/>
          </a:p>
        </p:txBody>
      </p:sp>
      <p:pic>
        <p:nvPicPr>
          <p:cNvPr descr="Uma imagem com texto, diagrama, Paralelo, file&#10;&#10;Descrição gerada automaticamente" id="113" name="Google Shape;11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30049" y="1158526"/>
            <a:ext cx="6483899" cy="36520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3"/>
          <p:cNvSpPr txBox="1"/>
          <p:nvPr>
            <p:ph type="ctrTitle"/>
          </p:nvPr>
        </p:nvSpPr>
        <p:spPr>
          <a:xfrm>
            <a:off x="314608" y="162962"/>
            <a:ext cx="6858000" cy="3948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pt-PT" sz="2800"/>
              <a:t>Example - DID</a:t>
            </a:r>
            <a:endParaRPr sz="2800"/>
          </a:p>
        </p:txBody>
      </p:sp>
      <p:pic>
        <p:nvPicPr>
          <p:cNvPr descr="A close-up of a number&#10;&#10;Description automatically generated" id="119" name="Google Shape;119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72427" y="650306"/>
            <a:ext cx="4489192" cy="19214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18929" y="2857413"/>
            <a:ext cx="4196187" cy="3037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4"/>
          <p:cNvSpPr txBox="1"/>
          <p:nvPr>
            <p:ph type="ctrTitle"/>
          </p:nvPr>
        </p:nvSpPr>
        <p:spPr>
          <a:xfrm>
            <a:off x="314608" y="162962"/>
            <a:ext cx="6858000" cy="3948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pt-PT" sz="2800"/>
              <a:t>Example - Verifiable Credential </a:t>
            </a:r>
            <a:endParaRPr sz="2800"/>
          </a:p>
        </p:txBody>
      </p:sp>
      <p:pic>
        <p:nvPicPr>
          <p:cNvPr id="126" name="Google Shape;126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4608" y="725473"/>
            <a:ext cx="2084590" cy="4114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40950" y="688825"/>
            <a:ext cx="4591626" cy="3890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5"/>
          <p:cNvSpPr txBox="1"/>
          <p:nvPr>
            <p:ph type="ctrTitle"/>
          </p:nvPr>
        </p:nvSpPr>
        <p:spPr>
          <a:xfrm>
            <a:off x="314608" y="162962"/>
            <a:ext cx="6858000" cy="3948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pt-PT" sz="2800"/>
              <a:t>Example - Verifiable Presentation</a:t>
            </a:r>
            <a:endParaRPr sz="2800"/>
          </a:p>
        </p:txBody>
      </p:sp>
      <p:pic>
        <p:nvPicPr>
          <p:cNvPr descr="A diagram of a type of data&#10;&#10;Description automatically generated" id="133" name="Google Shape;133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4608" y="778227"/>
            <a:ext cx="2283764" cy="411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11922" y="1724900"/>
            <a:ext cx="6240829" cy="22214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>
                <a:solidFill>
                  <a:srgbClr val="2B404C"/>
                </a:solidFill>
                <a:latin typeface="Calibri"/>
                <a:ea typeface="Calibri"/>
                <a:cs typeface="Calibri"/>
                <a:sym typeface="Calibri"/>
              </a:rPr>
              <a:t>DEMO</a:t>
            </a:r>
            <a:endParaRPr/>
          </a:p>
        </p:txBody>
      </p:sp>
      <p:pic>
        <p:nvPicPr>
          <p:cNvPr descr="Camera lens close up" id="140" name="Google Shape;140;p26"/>
          <p:cNvPicPr preferRelativeResize="0"/>
          <p:nvPr/>
        </p:nvPicPr>
        <p:blipFill rotWithShape="1">
          <a:blip r:embed="rId3">
            <a:alphaModFix/>
          </a:blip>
          <a:srcRect b="0" l="0" r="0" t="15605"/>
          <a:stretch/>
        </p:blipFill>
        <p:spPr>
          <a:xfrm>
            <a:off x="0" y="924523"/>
            <a:ext cx="9144003" cy="42189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b="1" lang="pt-PT">
                <a:solidFill>
                  <a:srgbClr val="2B404C"/>
                </a:solidFill>
                <a:latin typeface="Calibri"/>
                <a:ea typeface="Calibri"/>
                <a:cs typeface="Calibri"/>
                <a:sym typeface="Calibri"/>
              </a:rPr>
              <a:t>DEMO AGENDA</a:t>
            </a:r>
            <a:endParaRPr/>
          </a:p>
        </p:txBody>
      </p:sp>
      <p:sp>
        <p:nvSpPr>
          <p:cNvPr id="146" name="Google Shape;146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pt-PT"/>
              <a:t>Setup wallet (holder)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pt-PT"/>
              <a:t>Issue credentials (issuer)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pt-PT"/>
              <a:t>Store and list credentials (holder)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pt-PT"/>
              <a:t>Present credentials (holder)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pt-PT"/>
              <a:t>Verify credentials (verifier)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